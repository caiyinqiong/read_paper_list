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7" r:id="rId2"/>
    <p:sldId id="258" r:id="rId3"/>
    <p:sldId id="256" r:id="rId4"/>
    <p:sldId id="260" r:id="rId5"/>
    <p:sldId id="259" r:id="rId6"/>
    <p:sldId id="267" r:id="rId7"/>
    <p:sldId id="273" r:id="rId8"/>
    <p:sldId id="274" r:id="rId9"/>
    <p:sldId id="275" r:id="rId10"/>
    <p:sldId id="276" r:id="rId11"/>
    <p:sldId id="261" r:id="rId12"/>
    <p:sldId id="272" r:id="rId13"/>
    <p:sldId id="263" r:id="rId14"/>
    <p:sldId id="262" r:id="rId15"/>
    <p:sldId id="264" r:id="rId16"/>
    <p:sldId id="266" r:id="rId17"/>
    <p:sldId id="268" r:id="rId18"/>
    <p:sldId id="269" r:id="rId19"/>
    <p:sldId id="271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03"/>
    <p:restoredTop sz="96925"/>
  </p:normalViewPr>
  <p:slideViewPr>
    <p:cSldViewPr snapToGrid="0" snapToObjects="1">
      <p:cViewPr varScale="1">
        <p:scale>
          <a:sx n="150" d="100"/>
          <a:sy n="150" d="100"/>
        </p:scale>
        <p:origin x="1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BFAA6-3BAB-8E4F-B978-B0B555764B22}" type="datetimeFigureOut">
              <a:t>2020/6/4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6F71-5820-7A47-8B7F-BC4E3E573CA1}" type="slidenum">
              <a:rPr lang="en-US" altLang="zh-CN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533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BFAA6-3BAB-8E4F-B978-B0B555764B22}" type="datetimeFigureOut">
              <a:t>2020/6/4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6F71-5820-7A47-8B7F-BC4E3E573CA1}" type="slidenum">
              <a:rPr lang="en-US" altLang="zh-CN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375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BFAA6-3BAB-8E4F-B978-B0B555764B22}" type="datetimeFigureOut">
              <a:t>2020/6/4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6F71-5820-7A47-8B7F-BC4E3E573CA1}" type="slidenum">
              <a:rPr lang="en-US" altLang="zh-CN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5715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BFAA6-3BAB-8E4F-B978-B0B555764B22}" type="datetimeFigureOut">
              <a:t>2020/6/4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6F71-5820-7A47-8B7F-BC4E3E573CA1}" type="slidenum">
              <a:rPr lang="en-US" altLang="zh-CN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2442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BFAA6-3BAB-8E4F-B978-B0B555764B22}" type="datetimeFigureOut">
              <a:t>2020/6/4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6F71-5820-7A47-8B7F-BC4E3E573CA1}" type="slidenum">
              <a:rPr lang="en-US" altLang="zh-CN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5201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BFAA6-3BAB-8E4F-B978-B0B555764B22}" type="datetimeFigureOut">
              <a:t>2020/6/4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6F71-5820-7A47-8B7F-BC4E3E573CA1}" type="slidenum">
              <a:rPr lang="en-US" altLang="zh-CN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1691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BFAA6-3BAB-8E4F-B978-B0B555764B22}" type="datetimeFigureOut">
              <a:t>2020/6/4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6F71-5820-7A47-8B7F-BC4E3E573CA1}" type="slidenum">
              <a:rPr lang="en-US" altLang="zh-CN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8286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BFAA6-3BAB-8E4F-B978-B0B555764B22}" type="datetimeFigureOut">
              <a:t>2020/6/4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6F71-5820-7A47-8B7F-BC4E3E573CA1}" type="slidenum">
              <a:rPr lang="en-US" altLang="zh-CN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4664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BFAA6-3BAB-8E4F-B978-B0B555764B22}" type="datetimeFigureOut">
              <a:t>2020/6/4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6F71-5820-7A47-8B7F-BC4E3E573CA1}" type="slidenum">
              <a:rPr lang="en-US" altLang="zh-CN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9354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BFAA6-3BAB-8E4F-B978-B0B555764B22}" type="datetimeFigureOut">
              <a:t>2020/6/4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6F71-5820-7A47-8B7F-BC4E3E573CA1}" type="slidenum">
              <a:rPr lang="en-US" altLang="zh-CN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17240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BFAA6-3BAB-8E4F-B978-B0B555764B22}" type="datetimeFigureOut">
              <a:t>2020/6/4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316F71-5820-7A47-8B7F-BC4E3E573CA1}" type="slidenum">
              <a:rPr lang="en-US" altLang="zh-CN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7936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BFAA6-3BAB-8E4F-B978-B0B555764B22}" type="datetimeFigureOut">
              <a:t>2020/6/4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16F71-5820-7A47-8B7F-BC4E3E573CA1}" type="slidenum">
              <a:rPr lang="en-US" altLang="zh-CN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34353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4F8E56C-DE78-434A-A622-CC8E89843B56}"/>
              </a:ext>
            </a:extLst>
          </p:cNvPr>
          <p:cNvSpPr/>
          <p:nvPr/>
        </p:nvSpPr>
        <p:spPr>
          <a:xfrm>
            <a:off x="0" y="2020389"/>
            <a:ext cx="9144000" cy="1408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4000" b="1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对上个工作的反思</a:t>
            </a:r>
          </a:p>
        </p:txBody>
      </p:sp>
    </p:spTree>
    <p:extLst>
      <p:ext uri="{BB962C8B-B14F-4D97-AF65-F5344CB8AC3E}">
        <p14:creationId xmlns:p14="http://schemas.microsoft.com/office/powerpoint/2010/main" val="2486602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565A761-2988-2744-8E88-BDC7D9BCE7BA}"/>
              </a:ext>
            </a:extLst>
          </p:cNvPr>
          <p:cNvSpPr txBox="1"/>
          <p:nvPr/>
        </p:nvSpPr>
        <p:spPr>
          <a:xfrm>
            <a:off x="495300" y="1797315"/>
            <a:ext cx="8297008" cy="1711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/>
              <a:t>并没有真正解决我们所期待的应用场景，能表现好的</a:t>
            </a:r>
            <a:r>
              <a:rPr kumimoji="1" lang="en-US" altLang="zh-CN"/>
              <a:t>case</a:t>
            </a:r>
            <a:r>
              <a:rPr kumimoji="1" lang="zh-CN" altLang="en-US"/>
              <a:t>大部分还是有较多的 </a:t>
            </a:r>
            <a:r>
              <a:rPr kumimoji="1" lang="en-US" altLang="zh-CN"/>
              <a:t>term</a:t>
            </a:r>
            <a:r>
              <a:rPr kumimoji="1" lang="zh-CN" altLang="en-US"/>
              <a:t> </a:t>
            </a:r>
            <a:r>
              <a:rPr kumimoji="1" lang="en-US" altLang="zh-CN"/>
              <a:t>overlap</a:t>
            </a:r>
            <a:r>
              <a:rPr kumimoji="1" lang="zh-CN" altLang="en-US"/>
              <a:t>。</a:t>
            </a:r>
            <a:endParaRPr kumimoji="1"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/>
              <a:t>看论文比较少，思路不够开阔。方法和模型上都不够创新。</a:t>
            </a:r>
            <a:endParaRPr kumimoji="1"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/>
              <a:t>没有利用比较新的技术，</a:t>
            </a:r>
            <a:r>
              <a:rPr kumimoji="1" lang="en-US" altLang="zh-CN"/>
              <a:t>e.g.</a:t>
            </a:r>
            <a:r>
              <a:rPr kumimoji="1" lang="zh-CN" altLang="en-US"/>
              <a:t> </a:t>
            </a:r>
            <a:r>
              <a:rPr kumimoji="1" lang="en-US" altLang="zh-CN"/>
              <a:t>pre-training</a:t>
            </a:r>
            <a:r>
              <a:rPr kumimoji="1" lang="zh-CN" altLang="en-US"/>
              <a:t>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27B908-7CF4-2C41-AF22-7468D3014A94}"/>
              </a:ext>
            </a:extLst>
          </p:cNvPr>
          <p:cNvSpPr txBox="1"/>
          <p:nvPr/>
        </p:nvSpPr>
        <p:spPr>
          <a:xfrm>
            <a:off x="172589" y="320842"/>
            <a:ext cx="3951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/>
              <a:t>DenseTrans</a:t>
            </a:r>
            <a:endParaRPr kumimoji="1" lang="zh-CN" altLang="en-US" sz="2800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DB5F5F09-E01A-B34C-BCE2-8B4778D5D7C7}"/>
              </a:ext>
            </a:extLst>
          </p:cNvPr>
          <p:cNvCxnSpPr>
            <a:cxnSpLocks/>
          </p:cNvCxnSpPr>
          <p:nvPr/>
        </p:nvCxnSpPr>
        <p:spPr>
          <a:xfrm>
            <a:off x="-1" y="844061"/>
            <a:ext cx="240909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658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0A58B79-3092-EA41-A417-F4D314DE34C8}"/>
              </a:ext>
            </a:extLst>
          </p:cNvPr>
          <p:cNvSpPr/>
          <p:nvPr/>
        </p:nvSpPr>
        <p:spPr>
          <a:xfrm>
            <a:off x="0" y="2020389"/>
            <a:ext cx="9144000" cy="1408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kumimoji="1" lang="zh-CN" altLang="en-US" sz="4000" b="1">
                <a:latin typeface="SimHei" panose="02010609060101010101" pitchFamily="49" charset="-122"/>
                <a:ea typeface="SimHei" panose="02010609060101010101" pitchFamily="49" charset="-122"/>
              </a:rPr>
              <a:t>开放域问答</a:t>
            </a:r>
            <a:endParaRPr kumimoji="1" lang="en-US" altLang="zh-CN" sz="3600" b="1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sz="2000" b="1">
                <a:latin typeface="SimHei" panose="02010609060101010101" pitchFamily="49" charset="-122"/>
                <a:ea typeface="SimHei" panose="02010609060101010101" pitchFamily="49" charset="-122"/>
              </a:rPr>
              <a:t>(</a:t>
            </a:r>
            <a:r>
              <a:rPr kumimoji="1" lang="zh-CN" altLang="en-US" sz="2000" b="1">
                <a:latin typeface="SimHei" panose="02010609060101010101" pitchFamily="49" charset="-122"/>
                <a:ea typeface="SimHei" panose="02010609060101010101" pitchFamily="49" charset="-122"/>
              </a:rPr>
              <a:t>以无结构化文本，</a:t>
            </a:r>
            <a:r>
              <a:rPr kumimoji="1" lang="en-US" altLang="zh-CN" sz="2000" b="1">
                <a:latin typeface="SimHei" panose="02010609060101010101" pitchFamily="49" charset="-122"/>
                <a:ea typeface="SimHei" panose="02010609060101010101" pitchFamily="49" charset="-122"/>
              </a:rPr>
              <a:t>e.g.Wikipedia</a:t>
            </a:r>
            <a:r>
              <a:rPr kumimoji="1" lang="zh-CN" altLang="en-US" sz="2000" b="1">
                <a:latin typeface="SimHei" panose="02010609060101010101" pitchFamily="49" charset="-122"/>
                <a:ea typeface="SimHei" panose="02010609060101010101" pitchFamily="49" charset="-122"/>
              </a:rPr>
              <a:t>，作为知识源</a:t>
            </a:r>
            <a:r>
              <a:rPr kumimoji="1" lang="en-US" altLang="zh-CN" sz="2000" b="1">
                <a:latin typeface="SimHei" panose="02010609060101010101" pitchFamily="49" charset="-122"/>
                <a:ea typeface="SimHei" panose="02010609060101010101" pitchFamily="49" charset="-122"/>
              </a:rPr>
              <a:t>)</a:t>
            </a:r>
            <a:endParaRPr kumimoji="1" lang="zh-CN" altLang="en-US" sz="2000" b="1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5832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052F54-6260-0742-94A1-A31896622888}"/>
              </a:ext>
            </a:extLst>
          </p:cNvPr>
          <p:cNvSpPr/>
          <p:nvPr/>
        </p:nvSpPr>
        <p:spPr>
          <a:xfrm>
            <a:off x="0" y="2020389"/>
            <a:ext cx="9144000" cy="1408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40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Neural-based</a:t>
            </a:r>
            <a:r>
              <a:rPr kumimoji="1" lang="zh-CN" altLang="en-US" sz="40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40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Retrieval</a:t>
            </a:r>
            <a:endParaRPr kumimoji="1" lang="zh-CN" altLang="en-US" sz="4000" b="1">
              <a:solidFill>
                <a:schemeClr val="bg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748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653422F-F54A-614E-AC0F-761BC88790BD}"/>
              </a:ext>
            </a:extLst>
          </p:cNvPr>
          <p:cNvSpPr txBox="1"/>
          <p:nvPr/>
        </p:nvSpPr>
        <p:spPr>
          <a:xfrm>
            <a:off x="172589" y="320842"/>
            <a:ext cx="3951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/>
              <a:t>以</a:t>
            </a:r>
            <a:r>
              <a:rPr kumimoji="1" lang="en-US" altLang="zh-CN" sz="2800"/>
              <a:t>PIQA</a:t>
            </a:r>
            <a:r>
              <a:rPr kumimoji="1" lang="zh-CN" altLang="en-US" sz="2800"/>
              <a:t>、</a:t>
            </a:r>
            <a:r>
              <a:rPr kumimoji="1" lang="en-US" altLang="zh-CN" sz="2800"/>
              <a:t>DenSPI</a:t>
            </a:r>
            <a:r>
              <a:rPr kumimoji="1" lang="zh-CN" altLang="en-US" sz="2800"/>
              <a:t>为例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A2B9660A-D359-E441-8BDE-B5CDDE606817}"/>
              </a:ext>
            </a:extLst>
          </p:cNvPr>
          <p:cNvCxnSpPr>
            <a:cxnSpLocks/>
          </p:cNvCxnSpPr>
          <p:nvPr/>
        </p:nvCxnSpPr>
        <p:spPr>
          <a:xfrm>
            <a:off x="-1" y="844061"/>
            <a:ext cx="378948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CD7E15F-B31F-0144-A8E9-47FEC650AF3B}"/>
              </a:ext>
            </a:extLst>
          </p:cNvPr>
          <p:cNvSpPr txBox="1"/>
          <p:nvPr/>
        </p:nvSpPr>
        <p:spPr>
          <a:xfrm>
            <a:off x="200634" y="4616592"/>
            <a:ext cx="8742729" cy="1550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/>
              <a:t>不同于以</a:t>
            </a:r>
            <a:r>
              <a:rPr kumimoji="1" lang="en-US" altLang="zh-CN" sz="1600"/>
              <a:t>document/passage</a:t>
            </a:r>
            <a:r>
              <a:rPr kumimoji="1" lang="zh-CN" altLang="en-US" sz="1600"/>
              <a:t>为索引单位，本方法以</a:t>
            </a:r>
            <a:r>
              <a:rPr kumimoji="1" lang="en-US" altLang="zh-CN" sz="1600"/>
              <a:t>phrase(len&lt;=7)</a:t>
            </a:r>
            <a:r>
              <a:rPr kumimoji="1" lang="zh-CN" altLang="en-US" sz="1600"/>
              <a:t>为编码和索引单位。</a:t>
            </a:r>
            <a:endParaRPr kumimoji="1" lang="en-US" altLang="zh-CN" sz="1600"/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/>
              <a:t>对</a:t>
            </a:r>
            <a:r>
              <a:rPr kumimoji="1" lang="en-US" altLang="zh-CN" sz="1600"/>
              <a:t>question</a:t>
            </a:r>
            <a:r>
              <a:rPr kumimoji="1" lang="zh-CN" altLang="en-US" sz="1600"/>
              <a:t>和</a:t>
            </a:r>
            <a:r>
              <a:rPr kumimoji="1" lang="en-US" altLang="zh-CN" sz="1600"/>
              <a:t>phrase</a:t>
            </a:r>
            <a:r>
              <a:rPr kumimoji="1" lang="zh-CN" altLang="en-US" sz="1600"/>
              <a:t>学习独立的表示：</a:t>
            </a:r>
            <a:r>
              <a:rPr kumimoji="1" lang="en-US" altLang="zh-CN" sz="1600"/>
              <a:t>PIQA</a:t>
            </a:r>
            <a:r>
              <a:rPr kumimoji="1" lang="zh-CN" altLang="en-US" sz="1600"/>
              <a:t>是用</a:t>
            </a:r>
            <a:r>
              <a:rPr kumimoji="1" lang="en-US" altLang="zh-CN" sz="1600"/>
              <a:t>LSTM+SA</a:t>
            </a:r>
            <a:r>
              <a:rPr kumimoji="1" lang="zh-CN" altLang="en-US" sz="1600"/>
              <a:t>编码</a:t>
            </a:r>
            <a:r>
              <a:rPr kumimoji="1" lang="en-US" altLang="zh-CN" sz="1600"/>
              <a:t>question</a:t>
            </a:r>
            <a:r>
              <a:rPr kumimoji="1" lang="zh-CN" altLang="en-US" sz="1600"/>
              <a:t>和</a:t>
            </a:r>
            <a:r>
              <a:rPr kumimoji="1" lang="en-US" altLang="zh-CN" sz="1600"/>
              <a:t>phrase</a:t>
            </a:r>
            <a:r>
              <a:rPr kumimoji="1" lang="zh-CN" altLang="en-US" sz="1600"/>
              <a:t>。</a:t>
            </a:r>
            <a:r>
              <a:rPr kumimoji="1" lang="en-US" altLang="zh-CN" sz="1600"/>
              <a:t>DenSPI</a:t>
            </a:r>
            <a:r>
              <a:rPr kumimoji="1" lang="zh-CN" altLang="en-US" sz="1600"/>
              <a:t>使用</a:t>
            </a:r>
            <a:r>
              <a:rPr kumimoji="1" lang="en-US" altLang="zh-CN" sz="1600"/>
              <a:t>BERT</a:t>
            </a:r>
            <a:r>
              <a:rPr kumimoji="1" lang="zh-CN" altLang="en-US" sz="1600"/>
              <a:t>得到</a:t>
            </a:r>
            <a:r>
              <a:rPr kumimoji="1" lang="en-US" altLang="zh-CN" sz="1600"/>
              <a:t>dense</a:t>
            </a:r>
            <a:r>
              <a:rPr kumimoji="1" lang="zh-CN" altLang="en-US" sz="1600"/>
              <a:t> </a:t>
            </a:r>
            <a:r>
              <a:rPr kumimoji="1" lang="en-US" altLang="zh-CN" sz="1600"/>
              <a:t>vector</a:t>
            </a:r>
            <a:r>
              <a:rPr kumimoji="1" lang="zh-CN" altLang="en-US" sz="1600"/>
              <a:t>，使用</a:t>
            </a:r>
            <a:r>
              <a:rPr kumimoji="1" lang="en-US" altLang="zh-CN" sz="1600"/>
              <a:t>2-gram</a:t>
            </a:r>
            <a:r>
              <a:rPr kumimoji="1" lang="zh-CN" altLang="en-US" sz="1600"/>
              <a:t> </a:t>
            </a:r>
            <a:r>
              <a:rPr kumimoji="1" lang="en-US" altLang="zh-CN" sz="1600"/>
              <a:t>TFIDF</a:t>
            </a:r>
            <a:r>
              <a:rPr kumimoji="1" lang="zh-CN" altLang="en-US" sz="1600"/>
              <a:t>得到</a:t>
            </a:r>
            <a:r>
              <a:rPr kumimoji="1" lang="en-US" altLang="zh-CN" sz="1600"/>
              <a:t>sparse</a:t>
            </a:r>
            <a:r>
              <a:rPr kumimoji="1" lang="zh-CN" altLang="en-US" sz="1600"/>
              <a:t> </a:t>
            </a:r>
            <a:r>
              <a:rPr kumimoji="1" lang="en-US" altLang="zh-CN" sz="1600"/>
              <a:t>vector</a:t>
            </a:r>
            <a:r>
              <a:rPr kumimoji="1" lang="zh-CN" altLang="en-US" sz="1600"/>
              <a:t>（精确匹配特征）。</a:t>
            </a:r>
            <a:endParaRPr kumimoji="1" lang="en-US" altLang="zh-CN" sz="1600"/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/>
              <a:t>不同于</a:t>
            </a:r>
            <a:r>
              <a:rPr kumimoji="1" lang="en-US" altLang="zh-CN" sz="1600"/>
              <a:t>4</a:t>
            </a:r>
            <a:r>
              <a:rPr kumimoji="1" lang="zh-CN" altLang="en-US" sz="1600"/>
              <a:t>阶段的</a:t>
            </a:r>
            <a:r>
              <a:rPr kumimoji="1" lang="en-US" altLang="zh-CN" sz="1600"/>
              <a:t>pipeline</a:t>
            </a:r>
            <a:r>
              <a:rPr kumimoji="1" lang="zh-CN" altLang="en-US" sz="1600"/>
              <a:t>模式，本方法预先对</a:t>
            </a:r>
            <a:r>
              <a:rPr kumimoji="1" lang="en-US" altLang="zh-CN" sz="1600"/>
              <a:t>phrase</a:t>
            </a:r>
            <a:r>
              <a:rPr kumimoji="1" lang="zh-CN" altLang="en-US" sz="1600"/>
              <a:t>编码后进行索引，在线阶段直接使用最大内积搜索得到答案。（</a:t>
            </a:r>
            <a:r>
              <a:rPr kumimoji="1" lang="en-US" altLang="zh-CN" sz="1600"/>
              <a:t>DenSPI</a:t>
            </a:r>
            <a:r>
              <a:rPr kumimoji="1" lang="zh-CN" altLang="en-US" sz="1600"/>
              <a:t>先用</a:t>
            </a:r>
            <a:r>
              <a:rPr kumimoji="1" lang="en-US" altLang="zh-CN" sz="1600"/>
              <a:t>dense</a:t>
            </a:r>
            <a:r>
              <a:rPr kumimoji="1" lang="zh-CN" altLang="en-US" sz="1600"/>
              <a:t>部分搜索</a:t>
            </a:r>
            <a:r>
              <a:rPr kumimoji="1" lang="en-US" altLang="zh-CN" sz="1600"/>
              <a:t>topK</a:t>
            </a:r>
            <a:r>
              <a:rPr kumimoji="1" lang="zh-CN" altLang="en-US" sz="1600"/>
              <a:t>，再用</a:t>
            </a:r>
            <a:r>
              <a:rPr kumimoji="1" lang="en-US" altLang="zh-CN" sz="1600"/>
              <a:t>sparse</a:t>
            </a:r>
            <a:r>
              <a:rPr kumimoji="1" lang="zh-CN" altLang="en-US" sz="1600"/>
              <a:t>部分</a:t>
            </a:r>
            <a:r>
              <a:rPr kumimoji="1" lang="en-US" altLang="zh-CN" sz="1600"/>
              <a:t>rerank</a:t>
            </a:r>
            <a:r>
              <a:rPr kumimoji="1" lang="zh-CN" altLang="en-US" sz="1600"/>
              <a:t>。）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F25FBCD-47F4-EE4B-9BA3-5694BB58D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36" y="1245907"/>
            <a:ext cx="7093927" cy="262143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A388950-DC3D-8943-B31D-71E04E65B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499" y="3992693"/>
            <a:ext cx="3937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278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653422F-F54A-614E-AC0F-761BC88790BD}"/>
              </a:ext>
            </a:extLst>
          </p:cNvPr>
          <p:cNvSpPr txBox="1"/>
          <p:nvPr/>
        </p:nvSpPr>
        <p:spPr>
          <a:xfrm>
            <a:off x="172589" y="320842"/>
            <a:ext cx="3951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/>
              <a:t>以</a:t>
            </a:r>
            <a:r>
              <a:rPr kumimoji="1" lang="en-US" altLang="zh-CN" sz="2800"/>
              <a:t>PIQA</a:t>
            </a:r>
            <a:r>
              <a:rPr kumimoji="1" lang="zh-CN" altLang="en-US" sz="2800"/>
              <a:t>、</a:t>
            </a:r>
            <a:r>
              <a:rPr kumimoji="1" lang="en-US" altLang="zh-CN" sz="2800"/>
              <a:t>DenSPI</a:t>
            </a:r>
            <a:r>
              <a:rPr kumimoji="1" lang="zh-CN" altLang="en-US" sz="2800"/>
              <a:t>为例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A2B9660A-D359-E441-8BDE-B5CDDE606817}"/>
              </a:ext>
            </a:extLst>
          </p:cNvPr>
          <p:cNvCxnSpPr>
            <a:cxnSpLocks/>
          </p:cNvCxnSpPr>
          <p:nvPr/>
        </p:nvCxnSpPr>
        <p:spPr>
          <a:xfrm>
            <a:off x="-1" y="844061"/>
            <a:ext cx="3789486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4C523930-CBE3-BE4B-8587-6A22E3B71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742" y="1367281"/>
            <a:ext cx="5137637" cy="327502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F22FBF1-434B-864A-B253-DC33AF080438}"/>
              </a:ext>
            </a:extLst>
          </p:cNvPr>
          <p:cNvSpPr txBox="1"/>
          <p:nvPr/>
        </p:nvSpPr>
        <p:spPr>
          <a:xfrm>
            <a:off x="967154" y="5195709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存在的问题：在精确匹配、细节信息方面不够好。</a:t>
            </a:r>
          </a:p>
        </p:txBody>
      </p:sp>
    </p:spTree>
    <p:extLst>
      <p:ext uri="{BB962C8B-B14F-4D97-AF65-F5344CB8AC3E}">
        <p14:creationId xmlns:p14="http://schemas.microsoft.com/office/powerpoint/2010/main" val="4243530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653422F-F54A-614E-AC0F-761BC88790BD}"/>
              </a:ext>
            </a:extLst>
          </p:cNvPr>
          <p:cNvSpPr txBox="1"/>
          <p:nvPr/>
        </p:nvSpPr>
        <p:spPr>
          <a:xfrm>
            <a:off x="172589" y="320842"/>
            <a:ext cx="3951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/>
              <a:t>以</a:t>
            </a:r>
            <a:r>
              <a:rPr kumimoji="1" lang="en-US" altLang="zh-CN" sz="2800"/>
              <a:t>ORQA</a:t>
            </a:r>
            <a:r>
              <a:rPr kumimoji="1" lang="zh-CN" altLang="en-US" sz="2800"/>
              <a:t>为例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A2B9660A-D359-E441-8BDE-B5CDDE606817}"/>
              </a:ext>
            </a:extLst>
          </p:cNvPr>
          <p:cNvCxnSpPr>
            <a:cxnSpLocks/>
          </p:cNvCxnSpPr>
          <p:nvPr/>
        </p:nvCxnSpPr>
        <p:spPr>
          <a:xfrm>
            <a:off x="-1" y="844061"/>
            <a:ext cx="2540001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361F0F46-34E0-F943-867D-BEF2406D7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37" y="1089899"/>
            <a:ext cx="8337526" cy="442420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0144C5E-C637-CE47-B10E-159D8DAAEE4F}"/>
              </a:ext>
            </a:extLst>
          </p:cNvPr>
          <p:cNvSpPr txBox="1"/>
          <p:nvPr/>
        </p:nvSpPr>
        <p:spPr>
          <a:xfrm>
            <a:off x="524934" y="5613397"/>
            <a:ext cx="79586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/>
              <a:t>编码单位是长度不超过</a:t>
            </a:r>
            <a:r>
              <a:rPr kumimoji="1" lang="en-US" altLang="zh-CN"/>
              <a:t>288</a:t>
            </a:r>
            <a:r>
              <a:rPr kumimoji="1" lang="zh-CN" altLang="en-US"/>
              <a:t>个</a:t>
            </a:r>
            <a:r>
              <a:rPr kumimoji="1" lang="en-US" altLang="zh-CN"/>
              <a:t>wordpiece</a:t>
            </a:r>
            <a:r>
              <a:rPr kumimoji="1" lang="zh-CN" altLang="en-US"/>
              <a:t>的</a:t>
            </a:r>
            <a:r>
              <a:rPr kumimoji="1" lang="en-US" altLang="zh-CN"/>
              <a:t>chunk</a:t>
            </a:r>
            <a:r>
              <a:rPr kumimoji="1" lang="zh-CN" altLang="en-US"/>
              <a:t>，保留句子边界。</a:t>
            </a:r>
            <a:endParaRPr kumimoji="1"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/>
              <a:t>用</a:t>
            </a:r>
            <a:r>
              <a:rPr kumimoji="1" lang="en-US" altLang="zh-CN"/>
              <a:t>ICT</a:t>
            </a:r>
            <a:r>
              <a:rPr kumimoji="1" lang="zh-CN" altLang="en-US"/>
              <a:t>任务预训练</a:t>
            </a:r>
            <a:r>
              <a:rPr kumimoji="1" lang="en-US" altLang="zh-CN"/>
              <a:t>retriever</a:t>
            </a:r>
            <a:r>
              <a:rPr kumimoji="1" lang="zh-CN" altLang="en-US"/>
              <a:t>，</a:t>
            </a:r>
            <a:r>
              <a:rPr kumimoji="1" lang="en-US" altLang="zh-CN"/>
              <a:t>question-answer</a:t>
            </a:r>
            <a:r>
              <a:rPr kumimoji="1" lang="zh-CN" altLang="en-US"/>
              <a:t> </a:t>
            </a:r>
            <a:r>
              <a:rPr kumimoji="1" lang="en-US" altLang="zh-CN"/>
              <a:t>pair</a:t>
            </a:r>
            <a:r>
              <a:rPr kumimoji="1" lang="zh-CN" altLang="en-US"/>
              <a:t>微调。</a:t>
            </a:r>
            <a:endParaRPr kumimoji="1"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/>
              <a:t>优点：可以从语义上检索相关段落。缺点：难以区分特定、具体的概念。</a:t>
            </a:r>
          </a:p>
        </p:txBody>
      </p:sp>
    </p:spTree>
    <p:extLst>
      <p:ext uri="{BB962C8B-B14F-4D97-AF65-F5344CB8AC3E}">
        <p14:creationId xmlns:p14="http://schemas.microsoft.com/office/powerpoint/2010/main" val="2990777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653422F-F54A-614E-AC0F-761BC88790BD}"/>
              </a:ext>
            </a:extLst>
          </p:cNvPr>
          <p:cNvSpPr txBox="1"/>
          <p:nvPr/>
        </p:nvSpPr>
        <p:spPr>
          <a:xfrm>
            <a:off x="172589" y="320842"/>
            <a:ext cx="24436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/>
              <a:t>以</a:t>
            </a:r>
            <a:r>
              <a:rPr kumimoji="1" lang="en-US" altLang="zh-CN" sz="2800"/>
              <a:t>ORQA</a:t>
            </a:r>
            <a:r>
              <a:rPr kumimoji="1" lang="zh-CN" altLang="en-US" sz="2800"/>
              <a:t>为例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A2B9660A-D359-E441-8BDE-B5CDDE606817}"/>
              </a:ext>
            </a:extLst>
          </p:cNvPr>
          <p:cNvCxnSpPr>
            <a:cxnSpLocks/>
          </p:cNvCxnSpPr>
          <p:nvPr/>
        </p:nvCxnSpPr>
        <p:spPr>
          <a:xfrm>
            <a:off x="-1" y="844061"/>
            <a:ext cx="2810934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0D430987-C68D-4A4D-A545-2DE9488AA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61" y="1608665"/>
            <a:ext cx="8470605" cy="404706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99ADAD5-8E20-1846-8818-E6E9FB1C2FE5}"/>
              </a:ext>
            </a:extLst>
          </p:cNvPr>
          <p:cNvSpPr txBox="1"/>
          <p:nvPr/>
        </p:nvSpPr>
        <p:spPr>
          <a:xfrm>
            <a:off x="397561" y="1109133"/>
            <a:ext cx="1419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Case</a:t>
            </a:r>
            <a:r>
              <a:rPr kumimoji="1" lang="zh-CN" altLang="en-US"/>
              <a:t> </a:t>
            </a:r>
            <a:r>
              <a:rPr kumimoji="1" lang="en-US" altLang="zh-CN"/>
              <a:t>study</a:t>
            </a:r>
            <a:r>
              <a:rPr kumimoji="1" lang="zh-CN" altLang="en-US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1686127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653422F-F54A-614E-AC0F-761BC88790BD}"/>
              </a:ext>
            </a:extLst>
          </p:cNvPr>
          <p:cNvSpPr txBox="1"/>
          <p:nvPr/>
        </p:nvSpPr>
        <p:spPr>
          <a:xfrm>
            <a:off x="172589" y="320842"/>
            <a:ext cx="2960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/>
              <a:t>以</a:t>
            </a:r>
            <a:r>
              <a:rPr kumimoji="1" lang="en-US" altLang="zh-CN" sz="2800"/>
              <a:t>MUPPET</a:t>
            </a:r>
            <a:r>
              <a:rPr kumimoji="1" lang="zh-CN" altLang="en-US" sz="2800"/>
              <a:t>为例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A2B9660A-D359-E441-8BDE-B5CDDE606817}"/>
              </a:ext>
            </a:extLst>
          </p:cNvPr>
          <p:cNvCxnSpPr>
            <a:cxnSpLocks/>
          </p:cNvCxnSpPr>
          <p:nvPr/>
        </p:nvCxnSpPr>
        <p:spPr>
          <a:xfrm>
            <a:off x="-1" y="844061"/>
            <a:ext cx="2810934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4E60BCFD-76D2-7746-BB38-7651182C2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892" y="1126066"/>
            <a:ext cx="8028215" cy="399626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29EADA3-B8E1-AA4D-B791-221171E166CC}"/>
              </a:ext>
            </a:extLst>
          </p:cNvPr>
          <p:cNvSpPr txBox="1"/>
          <p:nvPr/>
        </p:nvSpPr>
        <p:spPr>
          <a:xfrm>
            <a:off x="440267" y="5404337"/>
            <a:ext cx="83904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/>
              <a:t>以</a:t>
            </a:r>
            <a:r>
              <a:rPr kumimoji="1" lang="en-US" altLang="zh-CN"/>
              <a:t>paragraph</a:t>
            </a:r>
            <a:r>
              <a:rPr kumimoji="1" lang="zh-CN" altLang="en-US"/>
              <a:t>为编码单位，但保留</a:t>
            </a:r>
            <a:r>
              <a:rPr kumimoji="1" lang="en-US" altLang="zh-CN"/>
              <a:t>sentence-level</a:t>
            </a:r>
            <a:r>
              <a:rPr kumimoji="1" lang="zh-CN" altLang="en-US"/>
              <a:t>的向量表示。</a:t>
            </a:r>
            <a:endParaRPr kumimoji="1" lang="en-US" altLang="zh-CN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CN" altLang="en-US"/>
              <a:t>不能严格算作</a:t>
            </a:r>
            <a:r>
              <a:rPr kumimoji="1" lang="en-US" altLang="zh-CN"/>
              <a:t>neural</a:t>
            </a:r>
            <a:r>
              <a:rPr kumimoji="1" lang="zh-CN" altLang="en-US"/>
              <a:t> </a:t>
            </a:r>
            <a:r>
              <a:rPr kumimoji="1" lang="en-US" altLang="zh-CN"/>
              <a:t>ranker</a:t>
            </a:r>
            <a:r>
              <a:rPr kumimoji="1" lang="zh-CN" altLang="en-US"/>
              <a:t>，还需要用</a:t>
            </a:r>
            <a:r>
              <a:rPr kumimoji="1" lang="en-US" altLang="zh-CN"/>
              <a:t>TFIDF</a:t>
            </a:r>
            <a:r>
              <a:rPr kumimoji="1" lang="zh-CN" altLang="en-US"/>
              <a:t>方法缩小</a:t>
            </a:r>
            <a:r>
              <a:rPr kumimoji="1" lang="en-US" altLang="zh-CN"/>
              <a:t>MIPS</a:t>
            </a:r>
            <a:r>
              <a:rPr kumimoji="1" lang="zh-CN" altLang="en-US"/>
              <a:t>的搜索空间，否则模型性能会受噪声段落的影响。</a:t>
            </a:r>
          </a:p>
        </p:txBody>
      </p:sp>
    </p:spTree>
    <p:extLst>
      <p:ext uri="{BB962C8B-B14F-4D97-AF65-F5344CB8AC3E}">
        <p14:creationId xmlns:p14="http://schemas.microsoft.com/office/powerpoint/2010/main" val="5585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653422F-F54A-614E-AC0F-761BC88790BD}"/>
              </a:ext>
            </a:extLst>
          </p:cNvPr>
          <p:cNvSpPr txBox="1"/>
          <p:nvPr/>
        </p:nvSpPr>
        <p:spPr>
          <a:xfrm>
            <a:off x="172589" y="320842"/>
            <a:ext cx="2960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/>
              <a:t>以</a:t>
            </a:r>
            <a:r>
              <a:rPr kumimoji="1" lang="en-US" altLang="zh-CN" sz="2800"/>
              <a:t>MUPPET</a:t>
            </a:r>
            <a:r>
              <a:rPr kumimoji="1" lang="zh-CN" altLang="en-US" sz="2800"/>
              <a:t>为例</a:t>
            </a:r>
          </a:p>
        </p:txBody>
      </p:sp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A2B9660A-D359-E441-8BDE-B5CDDE606817}"/>
              </a:ext>
            </a:extLst>
          </p:cNvPr>
          <p:cNvCxnSpPr>
            <a:cxnSpLocks/>
          </p:cNvCxnSpPr>
          <p:nvPr/>
        </p:nvCxnSpPr>
        <p:spPr>
          <a:xfrm>
            <a:off x="-1" y="844061"/>
            <a:ext cx="2810934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2ED77384-4ED7-E54F-BC45-A84F6F7D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46" y="1634075"/>
            <a:ext cx="7760153" cy="337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980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052F54-6260-0742-94A1-A31896622888}"/>
              </a:ext>
            </a:extLst>
          </p:cNvPr>
          <p:cNvSpPr/>
          <p:nvPr/>
        </p:nvSpPr>
        <p:spPr>
          <a:xfrm>
            <a:off x="0" y="2020389"/>
            <a:ext cx="9144000" cy="1408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32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探索 </a:t>
            </a:r>
            <a:r>
              <a:rPr kumimoji="1" lang="en-US" altLang="zh-CN" sz="32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text</a:t>
            </a:r>
            <a:r>
              <a:rPr kumimoji="1" lang="zh-CN" altLang="en-US" sz="32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32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reranker</a:t>
            </a:r>
            <a:r>
              <a:rPr kumimoji="1" lang="zh-CN" altLang="en-US" sz="32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和 </a:t>
            </a:r>
            <a:r>
              <a:rPr kumimoji="1" lang="en-US" altLang="zh-CN" sz="32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reader</a:t>
            </a:r>
            <a:r>
              <a:rPr kumimoji="1" lang="zh-CN" altLang="en-US" sz="32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之间的相互关系</a:t>
            </a:r>
            <a:endParaRPr kumimoji="1" lang="en-US" altLang="zh-CN" sz="3200" b="1">
              <a:solidFill>
                <a:schemeClr val="bg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kumimoji="1" lang="zh-CN" altLang="en-US" sz="32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（输入到</a:t>
            </a:r>
            <a:r>
              <a:rPr kumimoji="1" lang="en-US" altLang="zh-CN" sz="32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reader</a:t>
            </a:r>
            <a:r>
              <a:rPr kumimoji="1" lang="zh-CN" altLang="en-US" sz="32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的最佳文档数量）</a:t>
            </a:r>
          </a:p>
        </p:txBody>
      </p:sp>
    </p:spTree>
    <p:extLst>
      <p:ext uri="{BB962C8B-B14F-4D97-AF65-F5344CB8AC3E}">
        <p14:creationId xmlns:p14="http://schemas.microsoft.com/office/powerpoint/2010/main" val="288678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DE595D7-9CE3-B143-9E34-DE2CF519C156}"/>
              </a:ext>
            </a:extLst>
          </p:cNvPr>
          <p:cNvSpPr txBox="1"/>
          <p:nvPr/>
        </p:nvSpPr>
        <p:spPr>
          <a:xfrm>
            <a:off x="172589" y="320842"/>
            <a:ext cx="3951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/>
              <a:t>以</a:t>
            </a:r>
            <a:r>
              <a:rPr lang="zh-CN" altLang="en-US" sz="2800"/>
              <a:t>Adaptive Retrieval</a:t>
            </a:r>
            <a:r>
              <a:rPr kumimoji="1" lang="zh-CN" altLang="en-US" sz="2800"/>
              <a:t>为例</a:t>
            </a: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DD74F38E-F570-0449-905D-227ECCD03C24}"/>
              </a:ext>
            </a:extLst>
          </p:cNvPr>
          <p:cNvCxnSpPr>
            <a:cxnSpLocks/>
          </p:cNvCxnSpPr>
          <p:nvPr/>
        </p:nvCxnSpPr>
        <p:spPr>
          <a:xfrm>
            <a:off x="-1" y="844061"/>
            <a:ext cx="439615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3252583-A059-0D49-A450-DE3A587F71BE}"/>
              </a:ext>
            </a:extLst>
          </p:cNvPr>
          <p:cNvSpPr txBox="1"/>
          <p:nvPr/>
        </p:nvSpPr>
        <p:spPr>
          <a:xfrm>
            <a:off x="413238" y="1169378"/>
            <a:ext cx="809771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zh-CN" altLang="en-US"/>
              <a:t>将</a:t>
            </a:r>
            <a:r>
              <a:rPr kumimoji="1" lang="en-US" altLang="zh-CN"/>
              <a:t>retrieval</a:t>
            </a:r>
            <a:r>
              <a:rPr kumimoji="1" lang="zh-CN" altLang="en-US"/>
              <a:t>结果的</a:t>
            </a:r>
            <a:r>
              <a:rPr kumimoji="1" lang="en-US" altLang="zh-CN"/>
              <a:t>topK</a:t>
            </a:r>
            <a:r>
              <a:rPr kumimoji="1" lang="zh-CN" altLang="en-US"/>
              <a:t>文档输入到</a:t>
            </a:r>
            <a:r>
              <a:rPr kumimoji="1" lang="en-US" altLang="zh-CN"/>
              <a:t>reader</a:t>
            </a:r>
            <a:r>
              <a:rPr kumimoji="1" lang="zh-CN" altLang="en-US"/>
              <a:t>部分，一般的方法中</a:t>
            </a:r>
            <a:r>
              <a:rPr kumimoji="1" lang="en-US" altLang="zh-CN"/>
              <a:t>K</a:t>
            </a:r>
            <a:r>
              <a:rPr kumimoji="1" lang="zh-CN" altLang="en-US"/>
              <a:t>是静态的定值。</a:t>
            </a:r>
            <a:endParaRPr kumimoji="1" lang="en-US" altLang="zh-CN"/>
          </a:p>
          <a:p>
            <a:pPr algn="just"/>
            <a:r>
              <a:rPr kumimoji="1" lang="en-US" altLang="zh-CN"/>
              <a:t>      </a:t>
            </a:r>
            <a:r>
              <a:rPr kumimoji="1" lang="zh-CN" altLang="en-US"/>
              <a:t>如果使用静态</a:t>
            </a:r>
            <a:r>
              <a:rPr kumimoji="1" lang="en-US" altLang="zh-CN"/>
              <a:t>K</a:t>
            </a:r>
            <a:r>
              <a:rPr kumimoji="1" lang="zh-CN" altLang="en-US"/>
              <a:t>值，有没有比较好的确定</a:t>
            </a:r>
            <a:r>
              <a:rPr kumimoji="1" lang="en-US" altLang="zh-CN"/>
              <a:t>K</a:t>
            </a:r>
            <a:r>
              <a:rPr kumimoji="1" lang="zh-CN" altLang="en-US"/>
              <a:t>值的方法。</a:t>
            </a:r>
            <a:endParaRPr kumimoji="1" lang="en-US" altLang="zh-CN"/>
          </a:p>
          <a:p>
            <a:pPr algn="just"/>
            <a:endParaRPr kumimoji="1" lang="en-US" altLang="zh-CN"/>
          </a:p>
          <a:p>
            <a:pPr algn="just"/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F8238B1-DB90-F84D-AEFB-E8F1A6C24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408" y="4308699"/>
            <a:ext cx="7083950" cy="250280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86F0017-E3E5-DB49-8E4F-19C615881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036851"/>
            <a:ext cx="9144000" cy="209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322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DE595D7-9CE3-B143-9E34-DE2CF519C156}"/>
              </a:ext>
            </a:extLst>
          </p:cNvPr>
          <p:cNvSpPr txBox="1"/>
          <p:nvPr/>
        </p:nvSpPr>
        <p:spPr>
          <a:xfrm>
            <a:off x="172589" y="320842"/>
            <a:ext cx="3951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/>
              <a:t>以</a:t>
            </a:r>
            <a:r>
              <a:rPr lang="zh-CN" altLang="en-US" sz="2800"/>
              <a:t>Adaptive Retrieval</a:t>
            </a:r>
            <a:r>
              <a:rPr kumimoji="1" lang="zh-CN" altLang="en-US" sz="2800"/>
              <a:t>为例</a:t>
            </a: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DD74F38E-F570-0449-905D-227ECCD03C24}"/>
              </a:ext>
            </a:extLst>
          </p:cNvPr>
          <p:cNvCxnSpPr>
            <a:cxnSpLocks/>
          </p:cNvCxnSpPr>
          <p:nvPr/>
        </p:nvCxnSpPr>
        <p:spPr>
          <a:xfrm>
            <a:off x="-1" y="844061"/>
            <a:ext cx="439615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3252583-A059-0D49-A450-DE3A587F71BE}"/>
              </a:ext>
            </a:extLst>
          </p:cNvPr>
          <p:cNvSpPr txBox="1"/>
          <p:nvPr/>
        </p:nvSpPr>
        <p:spPr>
          <a:xfrm>
            <a:off x="413238" y="1081455"/>
            <a:ext cx="809771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zh-CN" altLang="en-US"/>
              <a:t>动态</a:t>
            </a:r>
            <a:r>
              <a:rPr kumimoji="1" lang="en-US" altLang="zh-CN"/>
              <a:t>K</a:t>
            </a:r>
            <a:r>
              <a:rPr kumimoji="1" lang="zh-CN" altLang="en-US"/>
              <a:t>值：最佳的</a:t>
            </a:r>
            <a:r>
              <a:rPr kumimoji="1" lang="en-US" altLang="zh-CN"/>
              <a:t>K</a:t>
            </a:r>
            <a:r>
              <a:rPr kumimoji="1" lang="zh-CN" altLang="en-US"/>
              <a:t>值应该是和</a:t>
            </a:r>
            <a:r>
              <a:rPr kumimoji="1" lang="en-US" altLang="zh-CN"/>
              <a:t>corpus</a:t>
            </a:r>
            <a:r>
              <a:rPr kumimoji="1" lang="zh-CN" altLang="en-US"/>
              <a:t> </a:t>
            </a:r>
            <a:r>
              <a:rPr kumimoji="1" lang="en-US" altLang="zh-CN"/>
              <a:t>size</a:t>
            </a:r>
            <a:r>
              <a:rPr kumimoji="1" lang="zh-CN" altLang="en-US"/>
              <a:t>、</a:t>
            </a:r>
            <a:r>
              <a:rPr kumimoji="1" lang="en-US" altLang="zh-CN"/>
              <a:t>question</a:t>
            </a:r>
            <a:r>
              <a:rPr kumimoji="1" lang="zh-CN" altLang="en-US"/>
              <a:t>有关的。</a:t>
            </a:r>
            <a:endParaRPr kumimoji="1" lang="en-US" altLang="zh-CN"/>
          </a:p>
          <a:p>
            <a:pPr algn="just"/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algn="just"/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zh-CN" altLang="en-US"/>
              <a:t>本文提出了两种动态确定</a:t>
            </a:r>
            <a:r>
              <a:rPr kumimoji="1" lang="en-US" altLang="zh-CN"/>
              <a:t>K</a:t>
            </a:r>
            <a:r>
              <a:rPr kumimoji="1" lang="zh-CN" altLang="en-US"/>
              <a:t>值的方法。</a:t>
            </a:r>
            <a:endParaRPr kumimoji="1" lang="en-US" altLang="zh-CN"/>
          </a:p>
          <a:p>
            <a:pPr algn="just"/>
            <a:r>
              <a:rPr kumimoji="1" lang="zh-CN" altLang="en-US"/>
              <a:t>      </a:t>
            </a:r>
            <a:r>
              <a:rPr kumimoji="1" lang="en-US" altLang="zh-CN"/>
              <a:t>1</a:t>
            </a:r>
            <a:r>
              <a:rPr kumimoji="1" lang="zh-CN" altLang="en-US"/>
              <a:t>）</a:t>
            </a:r>
            <a:r>
              <a:rPr kumimoji="1" lang="en-US" altLang="zh-CN"/>
              <a:t>Threshold-based</a:t>
            </a:r>
            <a:r>
              <a:rPr kumimoji="1" lang="zh-CN" altLang="en-US"/>
              <a:t>：将</a:t>
            </a:r>
            <a:r>
              <a:rPr kumimoji="1" lang="en-US" altLang="zh-CN"/>
              <a:t>retrieval</a:t>
            </a:r>
            <a:r>
              <a:rPr kumimoji="1" lang="zh-CN" altLang="en-US"/>
              <a:t>结果的</a:t>
            </a:r>
            <a:r>
              <a:rPr kumimoji="1" lang="en-US" altLang="zh-CN"/>
              <a:t>topT</a:t>
            </a:r>
            <a:r>
              <a:rPr kumimoji="1" lang="zh-CN" altLang="en-US"/>
              <a:t>文档的</a:t>
            </a:r>
            <a:r>
              <a:rPr kumimoji="1" lang="en-US" altLang="zh-CN"/>
              <a:t>score</a:t>
            </a:r>
            <a:r>
              <a:rPr kumimoji="1" lang="zh-CN" altLang="en-US"/>
              <a:t>进行</a:t>
            </a:r>
            <a:r>
              <a:rPr kumimoji="1" lang="en-US" altLang="zh-CN"/>
              <a:t>softmax</a:t>
            </a:r>
            <a:r>
              <a:rPr kumimoji="1" lang="zh-CN" altLang="en-US"/>
              <a:t>，累计</a:t>
            </a:r>
            <a:endParaRPr kumimoji="1" lang="en-US" altLang="zh-CN"/>
          </a:p>
          <a:p>
            <a:pPr algn="just"/>
            <a:r>
              <a:rPr kumimoji="1" lang="zh-CN" altLang="en-US"/>
              <a:t>             </a:t>
            </a:r>
            <a:r>
              <a:rPr kumimoji="1" lang="en-US" altLang="zh-CN"/>
              <a:t>socre</a:t>
            </a:r>
            <a:r>
              <a:rPr kumimoji="1" lang="zh-CN" altLang="en-US"/>
              <a:t>到达阈值时，则停止。</a:t>
            </a:r>
            <a:endParaRPr kumimoji="1" lang="en-US" altLang="zh-CN"/>
          </a:p>
          <a:p>
            <a:pPr algn="just"/>
            <a:r>
              <a:rPr kumimoji="1" lang="zh-CN" altLang="en-US"/>
              <a:t>      </a:t>
            </a:r>
            <a:r>
              <a:rPr kumimoji="1" lang="en-US" altLang="zh-CN"/>
              <a:t>2</a:t>
            </a:r>
            <a:r>
              <a:rPr kumimoji="1" lang="zh-CN" altLang="en-US"/>
              <a:t>）</a:t>
            </a:r>
            <a:r>
              <a:rPr kumimoji="1" lang="en-US" altLang="zh-CN"/>
              <a:t>Ordinal</a:t>
            </a:r>
            <a:r>
              <a:rPr kumimoji="1" lang="zh-CN" altLang="en-US"/>
              <a:t> </a:t>
            </a:r>
            <a:r>
              <a:rPr kumimoji="1" lang="en-US" altLang="zh-CN"/>
              <a:t>regression</a:t>
            </a:r>
            <a:r>
              <a:rPr kumimoji="1" lang="zh-CN" altLang="en-US"/>
              <a:t>：将</a:t>
            </a:r>
            <a:r>
              <a:rPr kumimoji="1" lang="en-US" altLang="zh-CN"/>
              <a:t>retrieval</a:t>
            </a:r>
            <a:r>
              <a:rPr kumimoji="1" lang="zh-CN" altLang="en-US"/>
              <a:t>结果的</a:t>
            </a:r>
            <a:r>
              <a:rPr kumimoji="1" lang="en-US" altLang="zh-CN"/>
              <a:t>topT</a:t>
            </a:r>
            <a:r>
              <a:rPr kumimoji="1" lang="zh-CN" altLang="en-US"/>
              <a:t>文档的</a:t>
            </a:r>
            <a:r>
              <a:rPr kumimoji="1" lang="en-US" altLang="zh-CN"/>
              <a:t>score</a:t>
            </a:r>
            <a:r>
              <a:rPr kumimoji="1" lang="zh-CN" altLang="en-US"/>
              <a:t>进行</a:t>
            </a:r>
            <a:r>
              <a:rPr kumimoji="1" lang="en-US" altLang="zh-CN"/>
              <a:t>softmax</a:t>
            </a:r>
            <a:r>
              <a:rPr kumimoji="1" lang="zh-CN" altLang="en-US"/>
              <a:t>，用线</a:t>
            </a:r>
            <a:endParaRPr kumimoji="1" lang="en-US" altLang="zh-CN"/>
          </a:p>
          <a:p>
            <a:pPr algn="just"/>
            <a:r>
              <a:rPr kumimoji="1" lang="zh-CN" altLang="en-US"/>
              <a:t>             性回归拟合第一个含有</a:t>
            </a:r>
            <a:r>
              <a:rPr kumimoji="1" lang="en-US" altLang="zh-CN"/>
              <a:t>answer</a:t>
            </a:r>
            <a:r>
              <a:rPr kumimoji="1" lang="zh-CN" altLang="en-US"/>
              <a:t>的文档位置。</a:t>
            </a: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zh-CN" altLang="en-US"/>
              <a:t>本文的方法比较简单，只是一个初步的探索，有没有其他更好的解决方案。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7904FEC-C3DD-5B42-9F8A-9E1AED95B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54" y="1544832"/>
            <a:ext cx="8159914" cy="321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9768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052F54-6260-0742-94A1-A31896622888}"/>
              </a:ext>
            </a:extLst>
          </p:cNvPr>
          <p:cNvSpPr/>
          <p:nvPr/>
        </p:nvSpPr>
        <p:spPr>
          <a:xfrm>
            <a:off x="0" y="2020389"/>
            <a:ext cx="9144000" cy="1408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40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跨段落进行 </a:t>
            </a:r>
            <a:r>
              <a:rPr kumimoji="1" lang="en-US" altLang="zh-CN" sz="40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text</a:t>
            </a:r>
            <a:r>
              <a:rPr kumimoji="1" lang="zh-CN" altLang="en-US" sz="40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40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rerank</a:t>
            </a:r>
            <a:endParaRPr kumimoji="1" lang="zh-CN" altLang="en-US" sz="4000" b="1">
              <a:solidFill>
                <a:schemeClr val="bg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245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052F54-6260-0742-94A1-A31896622888}"/>
              </a:ext>
            </a:extLst>
          </p:cNvPr>
          <p:cNvSpPr/>
          <p:nvPr/>
        </p:nvSpPr>
        <p:spPr>
          <a:xfrm>
            <a:off x="0" y="2020389"/>
            <a:ext cx="9144000" cy="1408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40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多段落 </a:t>
            </a:r>
            <a:r>
              <a:rPr kumimoji="1" lang="en-US" altLang="zh-CN" sz="40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RC</a:t>
            </a:r>
            <a:endParaRPr kumimoji="1" lang="zh-CN" altLang="en-US" sz="4000" b="1">
              <a:solidFill>
                <a:schemeClr val="bg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310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9E5AAD-4E02-3C40-9AE0-8FDE6A8CD5CA}"/>
              </a:ext>
            </a:extLst>
          </p:cNvPr>
          <p:cNvSpPr txBox="1"/>
          <p:nvPr/>
        </p:nvSpPr>
        <p:spPr>
          <a:xfrm>
            <a:off x="483577" y="1230924"/>
            <a:ext cx="817684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zh-CN" altLang="en-US"/>
              <a:t>可能在</a:t>
            </a:r>
            <a:r>
              <a:rPr kumimoji="1" lang="en-US" altLang="zh-CN"/>
              <a:t>RC</a:t>
            </a:r>
            <a:r>
              <a:rPr kumimoji="1" lang="zh-CN" altLang="en-US"/>
              <a:t>任务中有更多关于这部分的工作，但</a:t>
            </a:r>
            <a:r>
              <a:rPr kumimoji="1" lang="en-US" altLang="zh-CN"/>
              <a:t>OpenQA</a:t>
            </a:r>
            <a:r>
              <a:rPr kumimoji="1" lang="zh-CN" altLang="en-US"/>
              <a:t>的相关文献中更多是采用</a:t>
            </a:r>
            <a:r>
              <a:rPr kumimoji="1" lang="en-US" altLang="zh-CN"/>
              <a:t>Concat</a:t>
            </a:r>
            <a:r>
              <a:rPr kumimoji="1" lang="zh-CN" altLang="en-US"/>
              <a:t>的方法。</a:t>
            </a: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kumimoji="1" lang="en-US" altLang="zh-CN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-US" altLang="zh-CN"/>
              <a:t>TraCRNet</a:t>
            </a:r>
            <a:r>
              <a:rPr kumimoji="1" lang="zh-CN" altLang="en-US"/>
              <a:t>使用多层架构解决多段落</a:t>
            </a:r>
            <a:r>
              <a:rPr kumimoji="1" lang="en-US" altLang="zh-CN"/>
              <a:t>RC</a:t>
            </a:r>
            <a:r>
              <a:rPr kumimoji="1" lang="zh-CN" altLang="en-US"/>
              <a:t>，但在高层</a:t>
            </a:r>
            <a:r>
              <a:rPr kumimoji="1" lang="en-US" altLang="zh-CN"/>
              <a:t>Encoder</a:t>
            </a:r>
            <a:r>
              <a:rPr kumimoji="1" lang="zh-CN" altLang="en-US"/>
              <a:t>时丢失了</a:t>
            </a:r>
            <a:r>
              <a:rPr kumimoji="1" lang="en-US" altLang="zh-CN"/>
              <a:t>text</a:t>
            </a:r>
            <a:r>
              <a:rPr kumimoji="1" lang="zh-CN" altLang="en-US"/>
              <a:t>本身的信息，导致最后只能用</a:t>
            </a:r>
            <a:r>
              <a:rPr kumimoji="1" lang="en-US" altLang="zh-CN"/>
              <a:t>decoder</a:t>
            </a:r>
            <a:r>
              <a:rPr kumimoji="1" lang="zh-CN" altLang="en-US"/>
              <a:t>进行答案生成来解决抽取式</a:t>
            </a:r>
            <a:r>
              <a:rPr kumimoji="1" lang="en-US" altLang="zh-CN"/>
              <a:t>QA</a:t>
            </a:r>
            <a:r>
              <a:rPr kumimoji="1" lang="zh-CN" altLang="en-US"/>
              <a:t>问题。（</a:t>
            </a:r>
            <a:r>
              <a:rPr kumimoji="1" lang="en-US" altLang="zh-CN"/>
              <a:t>EM</a:t>
            </a:r>
            <a:r>
              <a:rPr kumimoji="1" lang="zh-CN" altLang="en-US"/>
              <a:t>指标较低）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94E2AB-4F38-5948-8D6A-7BCF85339CFB}"/>
              </a:ext>
            </a:extLst>
          </p:cNvPr>
          <p:cNvSpPr txBox="1"/>
          <p:nvPr/>
        </p:nvSpPr>
        <p:spPr>
          <a:xfrm>
            <a:off x="172589" y="320842"/>
            <a:ext cx="39510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/>
              <a:t>以</a:t>
            </a:r>
            <a:r>
              <a:rPr lang="en" altLang="zh-CN" sz="2800"/>
              <a:t>TraCRNet</a:t>
            </a:r>
            <a:r>
              <a:rPr kumimoji="1" lang="zh-CN" altLang="en-US" sz="2800"/>
              <a:t>为例</a:t>
            </a:r>
          </a:p>
        </p:txBody>
      </p:sp>
      <p:cxnSp>
        <p:nvCxnSpPr>
          <p:cNvPr id="4" name="直线连接符 3">
            <a:extLst>
              <a:ext uri="{FF2B5EF4-FFF2-40B4-BE49-F238E27FC236}">
                <a16:creationId xmlns:a16="http://schemas.microsoft.com/office/drawing/2014/main" id="{6DF20B5E-85C7-6142-9DAD-01BA784A6814}"/>
              </a:ext>
            </a:extLst>
          </p:cNvPr>
          <p:cNvCxnSpPr>
            <a:cxnSpLocks/>
          </p:cNvCxnSpPr>
          <p:nvPr/>
        </p:nvCxnSpPr>
        <p:spPr>
          <a:xfrm>
            <a:off x="-1" y="844061"/>
            <a:ext cx="296300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CCDBC6CA-F5A2-F048-A1EA-0F6618F40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15" y="2068126"/>
            <a:ext cx="7807569" cy="315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853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052F54-6260-0742-94A1-A31896622888}"/>
              </a:ext>
            </a:extLst>
          </p:cNvPr>
          <p:cNvSpPr/>
          <p:nvPr/>
        </p:nvSpPr>
        <p:spPr>
          <a:xfrm>
            <a:off x="0" y="2020389"/>
            <a:ext cx="9144000" cy="14086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40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初步解决方案</a:t>
            </a:r>
            <a:endParaRPr kumimoji="1" lang="en-US" altLang="zh-CN" sz="4000" b="1">
              <a:solidFill>
                <a:schemeClr val="bg1"/>
              </a:solidFill>
              <a:latin typeface="Times New Roman" panose="02020603050405020304" pitchFamily="18" charset="0"/>
              <a:ea typeface="SimHei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kumimoji="1" lang="zh-CN" altLang="en-US" sz="40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（针对跨段落</a:t>
            </a:r>
            <a:r>
              <a:rPr kumimoji="1" lang="en-US" altLang="zh-CN" sz="40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rerank</a:t>
            </a:r>
            <a:r>
              <a:rPr kumimoji="1" lang="zh-CN" altLang="en-US" sz="40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40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40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 多段落</a:t>
            </a:r>
            <a:r>
              <a:rPr kumimoji="1" lang="en-US" altLang="zh-CN" sz="40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RC</a:t>
            </a:r>
            <a:r>
              <a:rPr kumimoji="1" lang="zh-CN" altLang="en-US" sz="4000" b="1">
                <a:solidFill>
                  <a:schemeClr val="bg1"/>
                </a:solidFill>
                <a:latin typeface="Times New Roman" panose="02020603050405020304" pitchFamily="18" charset="0"/>
                <a:ea typeface="SimHei" panose="02010609060101010101" pitchFamily="49" charset="-122"/>
                <a:cs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16561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6817F15-0F0D-6C41-B954-FBE8DD82B0B8}"/>
              </a:ext>
            </a:extLst>
          </p:cNvPr>
          <p:cNvSpPr txBox="1"/>
          <p:nvPr/>
        </p:nvSpPr>
        <p:spPr>
          <a:xfrm>
            <a:off x="378069" y="993531"/>
            <a:ext cx="8335108" cy="4343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" altLang="zh-CN"/>
              <a:t>Neural speed reading via Skim-RNN.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" altLang="zh-CN"/>
              <a:t>Learning to skim text.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" altLang="zh-CN"/>
              <a:t>Episodic Memory Reader: Learning What to Remember for Question Answering from Streaming Data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" altLang="zh-CN"/>
              <a:t>NeurQuRI: Neural Question Requirement Inspector for Answerability Prediction in Machine Reading Comprehension</a:t>
            </a:r>
          </a:p>
          <a:p>
            <a:pPr algn="just"/>
            <a:endParaRPr kumimoji="1" lang="en" altLang="zh-CN"/>
          </a:p>
          <a:p>
            <a:pPr algn="just"/>
            <a:endParaRPr kumimoji="1" lang="en" altLang="zh-CN"/>
          </a:p>
          <a:p>
            <a:pPr algn="just">
              <a:lnSpc>
                <a:spcPct val="150000"/>
              </a:lnSpc>
            </a:pPr>
            <a:r>
              <a:rPr kumimoji="1" lang="zh-CN" altLang="en-US"/>
              <a:t>参考</a:t>
            </a:r>
            <a:r>
              <a:rPr kumimoji="1" lang="en-US" altLang="zh-CN"/>
              <a:t>human</a:t>
            </a:r>
            <a:r>
              <a:rPr kumimoji="1" lang="zh-CN" altLang="en-US"/>
              <a:t>进行</a:t>
            </a:r>
            <a:r>
              <a:rPr kumimoji="1" lang="en-US" altLang="zh-CN"/>
              <a:t>OpenQA/RC</a:t>
            </a:r>
            <a:r>
              <a:rPr kumimoji="1" lang="zh-CN" altLang="en-US"/>
              <a:t>任务的过程：</a:t>
            </a:r>
            <a:endParaRPr kumimoji="1" lang="en" altLang="zh-CN"/>
          </a:p>
          <a:p>
            <a:pPr algn="just">
              <a:lnSpc>
                <a:spcPct val="150000"/>
              </a:lnSpc>
            </a:pPr>
            <a:r>
              <a:rPr kumimoji="1" lang="en-US" altLang="zh-CN"/>
              <a:t>1</a:t>
            </a:r>
            <a:r>
              <a:rPr kumimoji="1" lang="zh-CN" altLang="en-US"/>
              <a:t>）结合多段落信息进行</a:t>
            </a:r>
            <a:r>
              <a:rPr kumimoji="1" lang="en-US" altLang="zh-CN"/>
              <a:t>rerank</a:t>
            </a:r>
            <a:r>
              <a:rPr kumimoji="1" lang="zh-CN" altLang="en-US"/>
              <a:t>：</a:t>
            </a:r>
            <a:r>
              <a:rPr kumimoji="1" lang="zh-CN" altLang="en"/>
              <a:t>快速</a:t>
            </a:r>
            <a:r>
              <a:rPr kumimoji="1" lang="zh-CN" altLang="en-US"/>
              <a:t>浏览</a:t>
            </a:r>
            <a:r>
              <a:rPr kumimoji="1" lang="en-US" altLang="zh-CN"/>
              <a:t>retrieval</a:t>
            </a:r>
            <a:r>
              <a:rPr kumimoji="1" lang="zh-CN" altLang="en-US"/>
              <a:t>选择出的相关文档，用</a:t>
            </a:r>
            <a:r>
              <a:rPr kumimoji="1" lang="en-US" altLang="zh-CN"/>
              <a:t>memory</a:t>
            </a:r>
            <a:r>
              <a:rPr kumimoji="1" lang="zh-CN" altLang="en-US"/>
              <a:t> </a:t>
            </a:r>
            <a:r>
              <a:rPr kumimoji="1" lang="en-US" altLang="zh-CN"/>
              <a:t>network</a:t>
            </a:r>
            <a:r>
              <a:rPr kumimoji="1" lang="zh-CN" altLang="en-US"/>
              <a:t>存储问题感知的相关</a:t>
            </a:r>
            <a:r>
              <a:rPr kumimoji="1" lang="en-US" altLang="zh-CN"/>
              <a:t>span/sentence</a:t>
            </a:r>
            <a:r>
              <a:rPr kumimoji="1" lang="zh-CN" altLang="en-US"/>
              <a:t>；</a:t>
            </a:r>
            <a:endParaRPr kumimoji="1" lang="en-US" altLang="zh-CN"/>
          </a:p>
          <a:p>
            <a:pPr algn="just">
              <a:lnSpc>
                <a:spcPct val="150000"/>
              </a:lnSpc>
            </a:pPr>
            <a:r>
              <a:rPr kumimoji="1" lang="en-US" altLang="zh-CN"/>
              <a:t>2</a:t>
            </a:r>
            <a:r>
              <a:rPr kumimoji="1" lang="zh-CN" altLang="en-US"/>
              <a:t>）多段落</a:t>
            </a:r>
            <a:r>
              <a:rPr kumimoji="1" lang="en-US" altLang="zh-CN"/>
              <a:t>RC</a:t>
            </a:r>
            <a:r>
              <a:rPr kumimoji="1" lang="zh-CN" altLang="en-US"/>
              <a:t>：结合这些相关片段进行阅读理解</a:t>
            </a:r>
            <a:r>
              <a:rPr kumimoji="1" lang="en-US" altLang="zh-CN"/>
              <a:t>/</a:t>
            </a:r>
            <a:r>
              <a:rPr kumimoji="1" lang="zh-CN" altLang="en-US"/>
              <a:t>推理得出答案。（融合</a:t>
            </a:r>
            <a:r>
              <a:rPr kumimoji="1" lang="en-US" altLang="zh-CN"/>
              <a:t>coverage</a:t>
            </a:r>
            <a:r>
              <a:rPr kumimoji="1" lang="zh-CN" altLang="en-US"/>
              <a:t>机制解决</a:t>
            </a:r>
            <a:r>
              <a:rPr kumimoji="1" lang="en-US" altLang="zh-CN"/>
              <a:t>question</a:t>
            </a:r>
            <a:r>
              <a:rPr kumimoji="1" lang="zh-CN" altLang="en-US"/>
              <a:t>的细节条件）</a:t>
            </a:r>
          </a:p>
        </p:txBody>
      </p:sp>
    </p:spTree>
    <p:extLst>
      <p:ext uri="{BB962C8B-B14F-4D97-AF65-F5344CB8AC3E}">
        <p14:creationId xmlns:p14="http://schemas.microsoft.com/office/powerpoint/2010/main" val="2543028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4E717AA-9A76-1940-BFDB-ACC29A7F3595}"/>
              </a:ext>
            </a:extLst>
          </p:cNvPr>
          <p:cNvSpPr txBox="1"/>
          <p:nvPr/>
        </p:nvSpPr>
        <p:spPr>
          <a:xfrm>
            <a:off x="848296" y="1301558"/>
            <a:ext cx="7262446" cy="2127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b="1"/>
              <a:t>下一步的工作：</a:t>
            </a:r>
            <a:endParaRPr kumimoji="1" lang="en-US" altLang="zh-CN" b="1"/>
          </a:p>
          <a:p>
            <a:pPr>
              <a:lnSpc>
                <a:spcPct val="150000"/>
              </a:lnSpc>
            </a:pPr>
            <a:endParaRPr kumimoji="1"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/>
              <a:t>再看一些最新的论文，看这些问题是否已经被解决、研究进展</a:t>
            </a:r>
            <a:endParaRPr kumimoji="1"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/>
              <a:t>完善初步的解决方案</a:t>
            </a:r>
            <a:endParaRPr kumimoji="1"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/>
              <a:t>进行一些初步的探索实验</a:t>
            </a:r>
          </a:p>
        </p:txBody>
      </p:sp>
    </p:spTree>
    <p:extLst>
      <p:ext uri="{BB962C8B-B14F-4D97-AF65-F5344CB8AC3E}">
        <p14:creationId xmlns:p14="http://schemas.microsoft.com/office/powerpoint/2010/main" val="653705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1448</TotalTime>
  <Words>752</Words>
  <Application>Microsoft Macintosh PowerPoint</Application>
  <PresentationFormat>全屏显示(4:3)</PresentationFormat>
  <Paragraphs>91</Paragraphs>
  <Slides>19</Slides>
  <Notes>0</Notes>
  <HiddenSlides>2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SimHei</vt:lpstr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开放域问答带来的检索问题</dc:title>
  <dc:creator>1198593462@qq.com</dc:creator>
  <cp:lastModifiedBy>1198593462@qq.com</cp:lastModifiedBy>
  <cp:revision>85</cp:revision>
  <dcterms:created xsi:type="dcterms:W3CDTF">2020-04-07T14:22:28Z</dcterms:created>
  <dcterms:modified xsi:type="dcterms:W3CDTF">2020-06-05T01:28:03Z</dcterms:modified>
</cp:coreProperties>
</file>